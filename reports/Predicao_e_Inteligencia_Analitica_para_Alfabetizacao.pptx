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Merriweather" panose="00000500000000000000" pitchFamily="2" charset="0"/>
      <p:regular r:id="rId9"/>
      <p:bold r:id="rId10"/>
      <p:italic r:id="rId11"/>
      <p:boldItalic r:id="rId12"/>
    </p:embeddedFont>
    <p:embeddedFont>
      <p:font typeface="Merriweather Bold" panose="00000800000000000000" pitchFamily="2" charset="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5F88C-90B3-4246-BE95-030FE27D5F9D}" v="8" dt="2026-09-21T00:01:45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C6372-8977-4D5C-9751-FB6277275FB0}" type="datetimeFigureOut"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10952-7E76-4E71-9204-518BA6541C3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89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712688"/>
            <a:ext cx="6180181" cy="109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Onde a alfabetização vai falhar antes que ela falhe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291700" y="2028130"/>
            <a:ext cx="6789766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Modelo preditivo de risco educacional para os municípios brasileiros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755238" y="2541389"/>
            <a:ext cx="5253105" cy="576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40,2%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291700" y="3317180"/>
            <a:ext cx="6180181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 crianças avaliadas em 2024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91700" y="3679428"/>
            <a:ext cx="6180181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não atingiram o nível de alfabetização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55238" y="4322663"/>
            <a:ext cx="5253105" cy="576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45,6%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5291700" y="5098455"/>
            <a:ext cx="6180181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Dos municípios ficaram abaixo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291700" y="5460702"/>
            <a:ext cx="6180181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 meta pactuada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91700" y="5886549"/>
            <a:ext cx="6789766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Base: 1,85 milhão de alunos do 2º ano · avaliação de 2024 · 5.517 municípios</a:t>
            </a:r>
            <a:endParaRPr lang="en-US" sz="13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6D7C6FB-0055-0D52-BEC3-38A756C93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7459"/>
            <a:ext cx="10752067" cy="514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Mesma pobreza, resultados opostos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470620"/>
            <a:ext cx="517531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Perfil socioeconômico equivalente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19814" y="1910755"/>
            <a:ext cx="5175319" cy="94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IDHM — Grupo A: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0,58 </a:t>
            </a: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Grupo B: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0,59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Renda per capita — Grupo A: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R$ 270 </a:t>
            </a: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Grupo B: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R$ 277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Pobreza infantil — Grupo A: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57,5% </a:t>
            </a:r>
            <a:r>
              <a:rPr lang="en-US" sz="1250" dirty="0">
                <a:solidFill>
                  <a:srgbClr val="AAB0B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 Grupo B:</a:t>
            </a: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56,1%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2912" y="1470620"/>
            <a:ext cx="5175319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Resultado educacional oposto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12" y="1875730"/>
            <a:ext cx="4140196" cy="2980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98119" y="5003899"/>
            <a:ext cx="578490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 pontos percentuais de diferença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9814" y="5548412"/>
            <a:ext cx="10752067" cy="1905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19814" y="5756573"/>
            <a:ext cx="10752067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Dois grupos de municípios com a mesma pobreza. Vinte e oito pontos percentuais de diferença na alfabetização. Ambos majoritariamente nordestinos.</a:t>
            </a:r>
            <a:endParaRPr lang="en-US" sz="125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E5600B1-CE77-D15D-DF40-28644A87C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969F04-E379-D4F4-0C13-B35184AF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824" y="66104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0039"/>
            <a:ext cx="10752067" cy="61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risco tem endereço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9814" y="1686123"/>
            <a:ext cx="5137716" cy="609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Correlação entre taxa prevista e observada em 1.104 municípios que o modelo nunca viu.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504281"/>
            <a:ext cx="4880746" cy="35149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0515" y="1686123"/>
            <a:ext cx="5137716" cy="609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quinze municípios de maior risco do país estão todos na Bahia.</a:t>
            </a:r>
            <a:endParaRPr lang="en-US" sz="15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7A40B5-7E1B-BC04-497F-CF8BEB5DC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6383"/>
            <a:ext cx="10752067" cy="57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Prever antes da avaliação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9814" y="1231503"/>
            <a:ext cx="10752067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CEC9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0,84</a:t>
            </a:r>
            <a:r>
              <a:rPr lang="en-US" sz="215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</a:t>
            </a:r>
            <a:r>
              <a:rPr lang="en-US" sz="2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  Correlação entre taxa prevista e observada em 1.104 municípios que o modelo nunca viu.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362895"/>
            <a:ext cx="4635186" cy="37211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8014" y="2325390"/>
            <a:ext cx="5150217" cy="1275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150"/>
              </a:spcAft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histórico educacional do município domina a predição. Renda e desigualdade são indistinguíveis de ruído.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Ceará e Minas Gerais superam o previsto. Rio Grande do Sul fica abaixo, apesar do IDHM alto.</a:t>
            </a:r>
            <a:endParaRPr lang="en-US" sz="145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02A8C-A626-907C-8A91-D7245621F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8144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Priorizar antes, não explicar depois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9814" y="1835547"/>
            <a:ext cx="3446872" cy="2197398"/>
          </a:xfrm>
          <a:prstGeom prst="roundRect">
            <a:avLst>
              <a:gd name="adj" fmla="val 3931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8189" y="2053927"/>
            <a:ext cx="3010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Priorizar território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8189" y="2498527"/>
            <a:ext cx="3010122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Municípios ordenados por risco projetado, disponíveis antes da avaliação do ano corrente.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2362" y="1835547"/>
            <a:ext cx="3446872" cy="2197398"/>
          </a:xfrm>
          <a:prstGeom prst="roundRect">
            <a:avLst>
              <a:gd name="adj" fmla="val 3931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737" y="2053927"/>
            <a:ext cx="3010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Calibrar meta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90737" y="2498527"/>
            <a:ext cx="3010122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Meta pactuada com correlação de 0,98 com o desempenho do ano anterior.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4909" y="1835547"/>
            <a:ext cx="3446872" cy="2197398"/>
          </a:xfrm>
          <a:prstGeom prst="roundRect">
            <a:avLst>
              <a:gd name="adj" fmla="val 3931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3284" y="2053927"/>
            <a:ext cx="301012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Aprender com quem acerta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3284" y="2819797"/>
            <a:ext cx="3010122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Municípios pobres com bom desempenho são fonte de prática replicável.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814" y="4367113"/>
            <a:ext cx="10752067" cy="6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2/3</a:t>
            </a:r>
            <a:endParaRPr lang="en-US" sz="5300" dirty="0"/>
          </a:p>
        </p:txBody>
      </p:sp>
      <p:sp>
        <p:nvSpPr>
          <p:cNvPr id="13" name="Text 11"/>
          <p:cNvSpPr/>
          <p:nvPr/>
        </p:nvSpPr>
        <p:spPr>
          <a:xfrm>
            <a:off x="719814" y="5302845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 crianças em risco identificadas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9814" y="5747445"/>
            <a:ext cx="10752067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contra 1/4 na configuração padrão</a:t>
            </a:r>
            <a:endParaRPr lang="en-US" sz="160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9DC486D-42DF-56A7-395C-CE8C1ABB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2496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Limitações e futuro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1684" y="2276177"/>
            <a:ext cx="5421375" cy="2233712"/>
          </a:xfrm>
          <a:prstGeom prst="roundRect">
            <a:avLst>
              <a:gd name="adj" fmla="val 6630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359" y="2481858"/>
            <a:ext cx="501002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359" y="3008809"/>
            <a:ext cx="5010025" cy="113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Não identifica crianças individualmente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Ganho de 1,24 vez sobre escolha aleatória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Indicadores socioeconômicos do Censo de 2010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3115" y="2481858"/>
            <a:ext cx="51251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Próximo passo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3115" y="3008809"/>
            <a:ext cx="5125116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Integrar o Censo Escolar, com infraestrutura e formação docente por escola. É provavelmente ali que está a explicação para a diferença entre municípios igualmente pobres.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277" y="4972645"/>
            <a:ext cx="11053188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modelo aponta onde olhar. A decisão sobre o que fazer continua sendo de quem conhece o território.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814" y="4741267"/>
            <a:ext cx="25399" cy="791766"/>
          </a:xfrm>
          <a:prstGeom prst="roundRect">
            <a:avLst>
              <a:gd name="adj" fmla="val 50001"/>
            </a:avLst>
          </a:prstGeom>
          <a:solidFill>
            <a:srgbClr val="609DFF"/>
          </a:solidFill>
          <a:ln/>
        </p:spPr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BE49E8-998B-0F6F-A8DD-6DFFB7432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424" y="6458044"/>
            <a:ext cx="165735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6</cp:revision>
  <dcterms:created xsi:type="dcterms:W3CDTF">2026-09-21T00:00:01Z</dcterms:created>
  <dcterms:modified xsi:type="dcterms:W3CDTF">2026-09-21T00:11:11Z</dcterms:modified>
</cp:coreProperties>
</file>